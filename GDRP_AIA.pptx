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2"/>
  </p:notesMasterIdLst>
  <p:handoutMasterIdLst>
    <p:handoutMasterId r:id="rId13"/>
  </p:handoutMasterIdLst>
  <p:sldIdLst>
    <p:sldId id="356" r:id="rId7"/>
    <p:sldId id="402" r:id="rId8"/>
    <p:sldId id="403" r:id="rId9"/>
    <p:sldId id="404" r:id="rId10"/>
    <p:sldId id="401" r:id="rId11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8272" autoAdjust="0"/>
  </p:normalViewPr>
  <p:slideViewPr>
    <p:cSldViewPr snapToGrid="0">
      <p:cViewPr varScale="1">
        <p:scale>
          <a:sx n="210" d="100"/>
          <a:sy n="210" d="100"/>
        </p:scale>
        <p:origin x="432" y="15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03/06/2026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03/06/2026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0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Marlon Müller, B. Sc. (TUM) | AI Regulation &amp; Law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Marlon Müller, B. Sc. (TUM) | AI Regulation &amp; Law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Marlon Müller, B. Sc. (TUM) | AI Regulation &amp; Law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Mustertechnik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School </a:t>
            </a:r>
            <a:r>
              <a:rPr lang="de-DE" sz="800" baseline="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Musterverfahren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Processing Personal Data under the EU AI Act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Marlon Müller, B. Sc.</a:t>
            </a:r>
          </a:p>
          <a:p>
            <a:r>
              <a:rPr lang="de-DE" dirty="0"/>
              <a:t>Munich, June 8th,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D29A1F6-3BF5-EF80-22E0-970B702D9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600200"/>
            <a:ext cx="8508999" cy="5879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Article</a:t>
            </a:r>
            <a:r>
              <a:rPr lang="de-DE" dirty="0"/>
              <a:t> 10 AI </a:t>
            </a:r>
            <a:r>
              <a:rPr lang="de-DE" dirty="0" err="1"/>
              <a:t>demands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biases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prevent</a:t>
            </a:r>
            <a:r>
              <a:rPr lang="de-DE" dirty="0"/>
              <a:t> </a:t>
            </a:r>
            <a:r>
              <a:rPr lang="de-DE" dirty="0" err="1"/>
              <a:t>discrimination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Indirect</a:t>
            </a:r>
            <a:r>
              <a:rPr lang="de-DE" dirty="0"/>
              <a:t> </a:t>
            </a:r>
            <a:r>
              <a:rPr lang="de-DE" dirty="0" err="1"/>
              <a:t>discrimnation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proxies</a:t>
            </a:r>
            <a:r>
              <a:rPr lang="de-DE" dirty="0"/>
              <a:t>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Example</a:t>
            </a:r>
            <a:r>
              <a:rPr lang="de-DE" dirty="0"/>
              <a:t>: Police Crime </a:t>
            </a:r>
            <a:r>
              <a:rPr lang="de-DE" dirty="0" err="1"/>
              <a:t>Statistics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Germany (PCS)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6CAE0B9-2D93-8973-66D9-22458C5C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de-DE" dirty="0"/>
              <a:t>Bias-</a:t>
            </a:r>
            <a:r>
              <a:rPr lang="de-DE" dirty="0" err="1"/>
              <a:t>free</a:t>
            </a:r>
            <a:r>
              <a:rPr lang="de-DE" dirty="0"/>
              <a:t> AI and </a:t>
            </a:r>
            <a:r>
              <a:rPr lang="de-DE" dirty="0" err="1"/>
              <a:t>Proxies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C1AF9A-C020-B265-0FA4-AA7B5C971C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0D8BDE-CA18-D543-C66A-880275FB8A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13FDE89-C7B6-4224-9956-A1DCC995856D}"/>
              </a:ext>
            </a:extLst>
          </p:cNvPr>
          <p:cNvGrpSpPr/>
          <p:nvPr/>
        </p:nvGrpSpPr>
        <p:grpSpPr>
          <a:xfrm>
            <a:off x="6305437" y="2473888"/>
            <a:ext cx="1487606" cy="771951"/>
            <a:chOff x="6231479" y="2435581"/>
            <a:chExt cx="1487606" cy="771951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E0A5B49F-5005-74A6-8F94-C770939D7B9C}"/>
                </a:ext>
              </a:extLst>
            </p:cNvPr>
            <p:cNvSpPr/>
            <p:nvPr/>
          </p:nvSpPr>
          <p:spPr>
            <a:xfrm>
              <a:off x="6231479" y="2435581"/>
              <a:ext cx="1487606" cy="7719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1050" dirty="0" err="1"/>
                <a:t>Reported</a:t>
              </a:r>
              <a:r>
                <a:rPr lang="de-DE" sz="1050" dirty="0"/>
                <a:t> Crime </a:t>
              </a:r>
              <a:r>
                <a:rPr lang="de-DE" sz="1050" dirty="0" err="1"/>
                <a:t>Supects</a:t>
              </a:r>
              <a:endParaRPr lang="de-DE" sz="1050" dirty="0"/>
            </a:p>
          </p:txBody>
        </p:sp>
        <p:sp>
          <p:nvSpPr>
            <p:cNvPr id="9" name="Grafik 7" descr="Handschellen mit einfarbiger Füllung">
              <a:extLst>
                <a:ext uri="{FF2B5EF4-FFF2-40B4-BE49-F238E27FC236}">
                  <a16:creationId xmlns:a16="http://schemas.microsoft.com/office/drawing/2014/main" id="{643D0CA1-5F20-751F-166A-671D12BA6E1B}"/>
                </a:ext>
              </a:extLst>
            </p:cNvPr>
            <p:cNvSpPr/>
            <p:nvPr/>
          </p:nvSpPr>
          <p:spPr>
            <a:xfrm rot="20622871">
              <a:off x="6337405" y="2783250"/>
              <a:ext cx="413533" cy="328928"/>
            </a:xfrm>
            <a:custGeom>
              <a:avLst/>
              <a:gdLst>
                <a:gd name="csX0" fmla="*/ 235593 w 413533"/>
                <a:gd name="csY0" fmla="*/ 62084 h 328928"/>
                <a:gd name="csX1" fmla="*/ 220207 w 413533"/>
                <a:gd name="csY1" fmla="*/ 50544 h 328928"/>
                <a:gd name="csX2" fmla="*/ 215880 w 413533"/>
                <a:gd name="csY2" fmla="*/ 44775 h 328928"/>
                <a:gd name="csX3" fmla="*/ 222611 w 413533"/>
                <a:gd name="csY3" fmla="*/ 46217 h 328928"/>
                <a:gd name="csX4" fmla="*/ 224053 w 413533"/>
                <a:gd name="csY4" fmla="*/ 46217 h 328928"/>
                <a:gd name="csX5" fmla="*/ 231265 w 413533"/>
                <a:gd name="csY5" fmla="*/ 40448 h 328928"/>
                <a:gd name="csX6" fmla="*/ 225496 w 413533"/>
                <a:gd name="csY6" fmla="*/ 31793 h 328928"/>
                <a:gd name="csX7" fmla="*/ 220207 w 413533"/>
                <a:gd name="csY7" fmla="*/ 30832 h 328928"/>
                <a:gd name="csX8" fmla="*/ 225015 w 413533"/>
                <a:gd name="csY8" fmla="*/ 28908 h 328928"/>
                <a:gd name="csX9" fmla="*/ 226938 w 413533"/>
                <a:gd name="csY9" fmla="*/ 28908 h 328928"/>
                <a:gd name="csX10" fmla="*/ 234150 w 413533"/>
                <a:gd name="csY10" fmla="*/ 31312 h 328928"/>
                <a:gd name="csX11" fmla="*/ 249536 w 413533"/>
                <a:gd name="csY11" fmla="*/ 42852 h 328928"/>
                <a:gd name="csX12" fmla="*/ 253863 w 413533"/>
                <a:gd name="csY12" fmla="*/ 56314 h 328928"/>
                <a:gd name="csX13" fmla="*/ 252901 w 413533"/>
                <a:gd name="csY13" fmla="*/ 54391 h 328928"/>
                <a:gd name="csX14" fmla="*/ 243285 w 413533"/>
                <a:gd name="csY14" fmla="*/ 51025 h 328928"/>
                <a:gd name="csX15" fmla="*/ 239920 w 413533"/>
                <a:gd name="csY15" fmla="*/ 60641 h 328928"/>
                <a:gd name="csX16" fmla="*/ 241843 w 413533"/>
                <a:gd name="csY16" fmla="*/ 64488 h 328928"/>
                <a:gd name="csX17" fmla="*/ 235593 w 413533"/>
                <a:gd name="csY17" fmla="*/ 62084 h 328928"/>
                <a:gd name="csX18" fmla="*/ 265402 w 413533"/>
                <a:gd name="csY18" fmla="*/ 115933 h 328928"/>
                <a:gd name="csX19" fmla="*/ 269729 w 413533"/>
                <a:gd name="csY19" fmla="*/ 102952 h 328928"/>
                <a:gd name="csX20" fmla="*/ 282230 w 413533"/>
                <a:gd name="csY20" fmla="*/ 106317 h 328928"/>
                <a:gd name="csX21" fmla="*/ 277903 w 413533"/>
                <a:gd name="csY21" fmla="*/ 119299 h 328928"/>
                <a:gd name="csX22" fmla="*/ 265402 w 413533"/>
                <a:gd name="csY22" fmla="*/ 115933 h 328928"/>
                <a:gd name="csX23" fmla="*/ 170204 w 413533"/>
                <a:gd name="csY23" fmla="*/ 39005 h 328928"/>
                <a:gd name="csX24" fmla="*/ 150972 w 413533"/>
                <a:gd name="csY24" fmla="*/ 39967 h 328928"/>
                <a:gd name="csX25" fmla="*/ 145683 w 413533"/>
                <a:gd name="csY25" fmla="*/ 39005 h 328928"/>
                <a:gd name="csX26" fmla="*/ 150010 w 413533"/>
                <a:gd name="csY26" fmla="*/ 36601 h 328928"/>
                <a:gd name="csX27" fmla="*/ 152414 w 413533"/>
                <a:gd name="csY27" fmla="*/ 26504 h 328928"/>
                <a:gd name="csX28" fmla="*/ 142317 w 413533"/>
                <a:gd name="csY28" fmla="*/ 24100 h 328928"/>
                <a:gd name="csX29" fmla="*/ 138471 w 413533"/>
                <a:gd name="csY29" fmla="*/ 26024 h 328928"/>
                <a:gd name="csX30" fmla="*/ 141356 w 413533"/>
                <a:gd name="csY30" fmla="*/ 19773 h 328928"/>
                <a:gd name="csX31" fmla="*/ 149529 w 413533"/>
                <a:gd name="csY31" fmla="*/ 15927 h 328928"/>
                <a:gd name="csX32" fmla="*/ 168761 w 413533"/>
                <a:gd name="csY32" fmla="*/ 14965 h 328928"/>
                <a:gd name="csX33" fmla="*/ 169242 w 413533"/>
                <a:gd name="csY33" fmla="*/ 14965 h 328928"/>
                <a:gd name="csX34" fmla="*/ 177416 w 413533"/>
                <a:gd name="csY34" fmla="*/ 17850 h 328928"/>
                <a:gd name="csX35" fmla="*/ 180781 w 413533"/>
                <a:gd name="csY35" fmla="*/ 23139 h 328928"/>
                <a:gd name="csX36" fmla="*/ 174531 w 413533"/>
                <a:gd name="csY36" fmla="*/ 21696 h 328928"/>
                <a:gd name="csX37" fmla="*/ 165876 w 413533"/>
                <a:gd name="csY37" fmla="*/ 27466 h 328928"/>
                <a:gd name="csX38" fmla="*/ 171646 w 413533"/>
                <a:gd name="csY38" fmla="*/ 36120 h 328928"/>
                <a:gd name="csX39" fmla="*/ 175492 w 413533"/>
                <a:gd name="csY39" fmla="*/ 37082 h 328928"/>
                <a:gd name="csX40" fmla="*/ 170204 w 413533"/>
                <a:gd name="csY40" fmla="*/ 39005 h 328928"/>
                <a:gd name="csX41" fmla="*/ 108661 w 413533"/>
                <a:gd name="csY41" fmla="*/ 75546 h 328928"/>
                <a:gd name="csX42" fmla="*/ 103372 w 413533"/>
                <a:gd name="csY42" fmla="*/ 83720 h 328928"/>
                <a:gd name="csX43" fmla="*/ 103372 w 413533"/>
                <a:gd name="csY43" fmla="*/ 76027 h 328928"/>
                <a:gd name="csX44" fmla="*/ 96160 w 413533"/>
                <a:gd name="csY44" fmla="*/ 68815 h 328928"/>
                <a:gd name="csX45" fmla="*/ 88948 w 413533"/>
                <a:gd name="csY45" fmla="*/ 76027 h 328928"/>
                <a:gd name="csX46" fmla="*/ 88948 w 413533"/>
                <a:gd name="csY46" fmla="*/ 82758 h 328928"/>
                <a:gd name="csX47" fmla="*/ 84621 w 413533"/>
                <a:gd name="csY47" fmla="*/ 72181 h 328928"/>
                <a:gd name="csX48" fmla="*/ 87506 w 413533"/>
                <a:gd name="csY48" fmla="*/ 52948 h 328928"/>
                <a:gd name="csX49" fmla="*/ 92314 w 413533"/>
                <a:gd name="csY49" fmla="*/ 45256 h 328928"/>
                <a:gd name="csX50" fmla="*/ 101449 w 413533"/>
                <a:gd name="csY50" fmla="*/ 42852 h 328928"/>
                <a:gd name="csX51" fmla="*/ 106738 w 413533"/>
                <a:gd name="csY51" fmla="*/ 44775 h 328928"/>
                <a:gd name="csX52" fmla="*/ 100968 w 413533"/>
                <a:gd name="csY52" fmla="*/ 48140 h 328928"/>
                <a:gd name="csX53" fmla="*/ 98564 w 413533"/>
                <a:gd name="csY53" fmla="*/ 58237 h 328928"/>
                <a:gd name="csX54" fmla="*/ 104815 w 413533"/>
                <a:gd name="csY54" fmla="*/ 61603 h 328928"/>
                <a:gd name="csX55" fmla="*/ 108661 w 413533"/>
                <a:gd name="csY55" fmla="*/ 60641 h 328928"/>
                <a:gd name="csX56" fmla="*/ 111546 w 413533"/>
                <a:gd name="csY56" fmla="*/ 58718 h 328928"/>
                <a:gd name="csX57" fmla="*/ 108661 w 413533"/>
                <a:gd name="csY57" fmla="*/ 75546 h 328928"/>
                <a:gd name="csX58" fmla="*/ 105776 w 413533"/>
                <a:gd name="csY58" fmla="*/ 136608 h 328928"/>
                <a:gd name="csX59" fmla="*/ 96160 w 413533"/>
                <a:gd name="csY59" fmla="*/ 146224 h 328928"/>
                <a:gd name="csX60" fmla="*/ 86544 w 413533"/>
                <a:gd name="csY60" fmla="*/ 136608 h 328928"/>
                <a:gd name="csX61" fmla="*/ 96160 w 413533"/>
                <a:gd name="csY61" fmla="*/ 126992 h 328928"/>
                <a:gd name="csX62" fmla="*/ 105776 w 413533"/>
                <a:gd name="csY62" fmla="*/ 136608 h 328928"/>
                <a:gd name="csX63" fmla="*/ 402911 w 413533"/>
                <a:gd name="csY63" fmla="*/ 152955 h 328928"/>
                <a:gd name="csX64" fmla="*/ 311559 w 413533"/>
                <a:gd name="csY64" fmla="*/ 100548 h 328928"/>
                <a:gd name="csX65" fmla="*/ 304347 w 413533"/>
                <a:gd name="csY65" fmla="*/ 85643 h 328928"/>
                <a:gd name="csX66" fmla="*/ 301943 w 413533"/>
                <a:gd name="csY66" fmla="*/ 82277 h 328928"/>
                <a:gd name="csX67" fmla="*/ 277422 w 413533"/>
                <a:gd name="csY67" fmla="*/ 76027 h 328928"/>
                <a:gd name="csX68" fmla="*/ 266845 w 413533"/>
                <a:gd name="csY68" fmla="*/ 81316 h 328928"/>
                <a:gd name="csX69" fmla="*/ 261075 w 413533"/>
                <a:gd name="csY69" fmla="*/ 70257 h 328928"/>
                <a:gd name="csX70" fmla="*/ 263960 w 413533"/>
                <a:gd name="csY70" fmla="*/ 67373 h 328928"/>
                <a:gd name="csX71" fmla="*/ 258190 w 413533"/>
                <a:gd name="csY71" fmla="*/ 30351 h 328928"/>
                <a:gd name="csX72" fmla="*/ 242805 w 413533"/>
                <a:gd name="csY72" fmla="*/ 18812 h 328928"/>
                <a:gd name="csX73" fmla="*/ 223092 w 413533"/>
                <a:gd name="csY73" fmla="*/ 14004 h 328928"/>
                <a:gd name="csX74" fmla="*/ 205783 w 413533"/>
                <a:gd name="csY74" fmla="*/ 24581 h 328928"/>
                <a:gd name="csX75" fmla="*/ 204340 w 413533"/>
                <a:gd name="csY75" fmla="*/ 26985 h 328928"/>
                <a:gd name="csX76" fmla="*/ 195686 w 413533"/>
                <a:gd name="csY76" fmla="*/ 26024 h 328928"/>
                <a:gd name="csX77" fmla="*/ 195686 w 413533"/>
                <a:gd name="csY77" fmla="*/ 25062 h 328928"/>
                <a:gd name="csX78" fmla="*/ 187032 w 413533"/>
                <a:gd name="csY78" fmla="*/ 6792 h 328928"/>
                <a:gd name="csX79" fmla="*/ 167800 w 413533"/>
                <a:gd name="csY79" fmla="*/ 60 h 328928"/>
                <a:gd name="csX80" fmla="*/ 148568 w 413533"/>
                <a:gd name="csY80" fmla="*/ 1022 h 328928"/>
                <a:gd name="csX81" fmla="*/ 123566 w 413533"/>
                <a:gd name="csY81" fmla="*/ 28908 h 328928"/>
                <a:gd name="csX82" fmla="*/ 124527 w 413533"/>
                <a:gd name="csY82" fmla="*/ 34197 h 328928"/>
                <a:gd name="csX83" fmla="*/ 119239 w 413533"/>
                <a:gd name="csY83" fmla="*/ 37563 h 328928"/>
                <a:gd name="csX84" fmla="*/ 103372 w 413533"/>
                <a:gd name="csY84" fmla="*/ 28908 h 328928"/>
                <a:gd name="csX85" fmla="*/ 83659 w 413533"/>
                <a:gd name="csY85" fmla="*/ 33716 h 328928"/>
                <a:gd name="csX86" fmla="*/ 73563 w 413533"/>
                <a:gd name="csY86" fmla="*/ 51025 h 328928"/>
                <a:gd name="csX87" fmla="*/ 70678 w 413533"/>
                <a:gd name="csY87" fmla="*/ 70257 h 328928"/>
                <a:gd name="csX88" fmla="*/ 75486 w 413533"/>
                <a:gd name="csY88" fmla="*/ 89970 h 328928"/>
                <a:gd name="csX89" fmla="*/ 88948 w 413533"/>
                <a:gd name="csY89" fmla="*/ 99105 h 328928"/>
                <a:gd name="csX90" fmla="*/ 88948 w 413533"/>
                <a:gd name="csY90" fmla="*/ 107760 h 328928"/>
                <a:gd name="csX91" fmla="*/ 76928 w 413533"/>
                <a:gd name="csY91" fmla="*/ 107760 h 328928"/>
                <a:gd name="csX92" fmla="*/ 57696 w 413533"/>
                <a:gd name="csY92" fmla="*/ 126992 h 328928"/>
                <a:gd name="csX93" fmla="*/ 57696 w 413533"/>
                <a:gd name="csY93" fmla="*/ 144782 h 328928"/>
                <a:gd name="csX94" fmla="*/ 0 w 413533"/>
                <a:gd name="csY94" fmla="*/ 232768 h 328928"/>
                <a:gd name="csX95" fmla="*/ 96160 w 413533"/>
                <a:gd name="csY95" fmla="*/ 328928 h 328928"/>
                <a:gd name="csX96" fmla="*/ 152895 w 413533"/>
                <a:gd name="csY96" fmla="*/ 310177 h 328928"/>
                <a:gd name="csX97" fmla="*/ 132220 w 413533"/>
                <a:gd name="csY97" fmla="*/ 289503 h 328928"/>
                <a:gd name="csX98" fmla="*/ 96160 w 413533"/>
                <a:gd name="csY98" fmla="*/ 300080 h 328928"/>
                <a:gd name="csX99" fmla="*/ 28848 w 413533"/>
                <a:gd name="csY99" fmla="*/ 232768 h 328928"/>
                <a:gd name="csX100" fmla="*/ 96160 w 413533"/>
                <a:gd name="csY100" fmla="*/ 165456 h 328928"/>
                <a:gd name="csX101" fmla="*/ 163472 w 413533"/>
                <a:gd name="csY101" fmla="*/ 232768 h 328928"/>
                <a:gd name="csX102" fmla="*/ 152895 w 413533"/>
                <a:gd name="csY102" fmla="*/ 268828 h 328928"/>
                <a:gd name="csX103" fmla="*/ 166838 w 413533"/>
                <a:gd name="csY103" fmla="*/ 282771 h 328928"/>
                <a:gd name="csX104" fmla="*/ 182704 w 413533"/>
                <a:gd name="csY104" fmla="*/ 232768 h 328928"/>
                <a:gd name="csX105" fmla="*/ 134624 w 413533"/>
                <a:gd name="csY105" fmla="*/ 155359 h 328928"/>
                <a:gd name="csX106" fmla="*/ 134624 w 413533"/>
                <a:gd name="csY106" fmla="*/ 126992 h 328928"/>
                <a:gd name="csX107" fmla="*/ 115392 w 413533"/>
                <a:gd name="csY107" fmla="*/ 107760 h 328928"/>
                <a:gd name="csX108" fmla="*/ 103372 w 413533"/>
                <a:gd name="csY108" fmla="*/ 107760 h 328928"/>
                <a:gd name="csX109" fmla="*/ 103372 w 413533"/>
                <a:gd name="csY109" fmla="*/ 99586 h 328928"/>
                <a:gd name="csX110" fmla="*/ 123085 w 413533"/>
                <a:gd name="csY110" fmla="*/ 77950 h 328928"/>
                <a:gd name="csX111" fmla="*/ 125970 w 413533"/>
                <a:gd name="csY111" fmla="*/ 58718 h 328928"/>
                <a:gd name="csX112" fmla="*/ 125970 w 413533"/>
                <a:gd name="csY112" fmla="*/ 50544 h 328928"/>
                <a:gd name="csX113" fmla="*/ 132701 w 413533"/>
                <a:gd name="csY113" fmla="*/ 46698 h 328928"/>
                <a:gd name="csX114" fmla="*/ 133182 w 413533"/>
                <a:gd name="csY114" fmla="*/ 47660 h 328928"/>
                <a:gd name="csX115" fmla="*/ 150972 w 413533"/>
                <a:gd name="csY115" fmla="*/ 54391 h 328928"/>
                <a:gd name="csX116" fmla="*/ 152414 w 413533"/>
                <a:gd name="csY116" fmla="*/ 54391 h 328928"/>
                <a:gd name="csX117" fmla="*/ 171646 w 413533"/>
                <a:gd name="csY117" fmla="*/ 53429 h 328928"/>
                <a:gd name="csX118" fmla="*/ 189916 w 413533"/>
                <a:gd name="csY118" fmla="*/ 44775 h 328928"/>
                <a:gd name="csX119" fmla="*/ 193282 w 413533"/>
                <a:gd name="csY119" fmla="*/ 40448 h 328928"/>
                <a:gd name="csX120" fmla="*/ 201936 w 413533"/>
                <a:gd name="csY120" fmla="*/ 42371 h 328928"/>
                <a:gd name="csX121" fmla="*/ 201936 w 413533"/>
                <a:gd name="csY121" fmla="*/ 45256 h 328928"/>
                <a:gd name="csX122" fmla="*/ 212514 w 413533"/>
                <a:gd name="csY122" fmla="*/ 62565 h 328928"/>
                <a:gd name="csX123" fmla="*/ 227900 w 413533"/>
                <a:gd name="csY123" fmla="*/ 74104 h 328928"/>
                <a:gd name="csX124" fmla="*/ 243285 w 413533"/>
                <a:gd name="csY124" fmla="*/ 79393 h 328928"/>
                <a:gd name="csX125" fmla="*/ 249536 w 413533"/>
                <a:gd name="csY125" fmla="*/ 78431 h 328928"/>
                <a:gd name="csX126" fmla="*/ 254825 w 413533"/>
                <a:gd name="csY126" fmla="*/ 89009 h 328928"/>
                <a:gd name="csX127" fmla="*/ 244247 w 413533"/>
                <a:gd name="csY127" fmla="*/ 94297 h 328928"/>
                <a:gd name="csX128" fmla="*/ 235593 w 413533"/>
                <a:gd name="csY128" fmla="*/ 120261 h 328928"/>
                <a:gd name="csX129" fmla="*/ 245209 w 413533"/>
                <a:gd name="csY129" fmla="*/ 139493 h 328928"/>
                <a:gd name="csX130" fmla="*/ 248093 w 413533"/>
                <a:gd name="csY130" fmla="*/ 145743 h 328928"/>
                <a:gd name="csX131" fmla="*/ 230785 w 413533"/>
                <a:gd name="csY131" fmla="*/ 195746 h 328928"/>
                <a:gd name="csX132" fmla="*/ 239920 w 413533"/>
                <a:gd name="csY132" fmla="*/ 237095 h 328928"/>
                <a:gd name="csX133" fmla="*/ 276461 w 413533"/>
                <a:gd name="csY133" fmla="*/ 274598 h 328928"/>
                <a:gd name="csX134" fmla="*/ 276941 w 413533"/>
                <a:gd name="csY134" fmla="*/ 273636 h 328928"/>
                <a:gd name="csX135" fmla="*/ 283192 w 413533"/>
                <a:gd name="csY135" fmla="*/ 254885 h 328928"/>
                <a:gd name="csX136" fmla="*/ 257229 w 413533"/>
                <a:gd name="csY136" fmla="*/ 227479 h 328928"/>
                <a:gd name="csX137" fmla="*/ 250017 w 413533"/>
                <a:gd name="csY137" fmla="*/ 195746 h 328928"/>
                <a:gd name="csX138" fmla="*/ 287038 w 413533"/>
                <a:gd name="csY138" fmla="*/ 138050 h 328928"/>
                <a:gd name="csX139" fmla="*/ 377429 w 413533"/>
                <a:gd name="csY139" fmla="*/ 168341 h 328928"/>
                <a:gd name="csX140" fmla="*/ 384641 w 413533"/>
                <a:gd name="csY140" fmla="*/ 199593 h 328928"/>
                <a:gd name="csX141" fmla="*/ 348100 w 413533"/>
                <a:gd name="csY141" fmla="*/ 257289 h 328928"/>
                <a:gd name="csX142" fmla="*/ 311078 w 413533"/>
                <a:gd name="csY142" fmla="*/ 264020 h 328928"/>
                <a:gd name="csX143" fmla="*/ 310597 w 413533"/>
                <a:gd name="csY143" fmla="*/ 264982 h 328928"/>
                <a:gd name="csX144" fmla="*/ 301462 w 413533"/>
                <a:gd name="csY144" fmla="*/ 292868 h 328928"/>
                <a:gd name="csX145" fmla="*/ 360601 w 413533"/>
                <a:gd name="csY145" fmla="*/ 284214 h 328928"/>
                <a:gd name="csX146" fmla="*/ 413489 w 413533"/>
                <a:gd name="csY146" fmla="*/ 200554 h 328928"/>
                <a:gd name="csX147" fmla="*/ 402911 w 413533"/>
                <a:gd name="csY147" fmla="*/ 152955 h 328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</a:cxnLst>
              <a:rect l="l" t="t" r="r" b="b"/>
              <a:pathLst>
                <a:path w="413533" h="328928">
                  <a:moveTo>
                    <a:pt x="235593" y="62084"/>
                  </a:moveTo>
                  <a:lnTo>
                    <a:pt x="220207" y="50544"/>
                  </a:lnTo>
                  <a:cubicBezTo>
                    <a:pt x="218284" y="49102"/>
                    <a:pt x="216841" y="47179"/>
                    <a:pt x="215880" y="44775"/>
                  </a:cubicBezTo>
                  <a:lnTo>
                    <a:pt x="222611" y="46217"/>
                  </a:lnTo>
                  <a:cubicBezTo>
                    <a:pt x="223092" y="46217"/>
                    <a:pt x="223572" y="46217"/>
                    <a:pt x="224053" y="46217"/>
                  </a:cubicBezTo>
                  <a:cubicBezTo>
                    <a:pt x="227419" y="46217"/>
                    <a:pt x="230304" y="43813"/>
                    <a:pt x="231265" y="40448"/>
                  </a:cubicBezTo>
                  <a:cubicBezTo>
                    <a:pt x="232227" y="36601"/>
                    <a:pt x="229342" y="32755"/>
                    <a:pt x="225496" y="31793"/>
                  </a:cubicBezTo>
                  <a:lnTo>
                    <a:pt x="220207" y="30832"/>
                  </a:lnTo>
                  <a:cubicBezTo>
                    <a:pt x="221649" y="29870"/>
                    <a:pt x="223572" y="28908"/>
                    <a:pt x="225015" y="28908"/>
                  </a:cubicBezTo>
                  <a:cubicBezTo>
                    <a:pt x="225496" y="28908"/>
                    <a:pt x="226457" y="28908"/>
                    <a:pt x="226938" y="28908"/>
                  </a:cubicBezTo>
                  <a:cubicBezTo>
                    <a:pt x="229342" y="28908"/>
                    <a:pt x="231746" y="29870"/>
                    <a:pt x="234150" y="31312"/>
                  </a:cubicBezTo>
                  <a:lnTo>
                    <a:pt x="249536" y="42852"/>
                  </a:lnTo>
                  <a:cubicBezTo>
                    <a:pt x="253863" y="46217"/>
                    <a:pt x="255305" y="51506"/>
                    <a:pt x="253863" y="56314"/>
                  </a:cubicBezTo>
                  <a:lnTo>
                    <a:pt x="252901" y="54391"/>
                  </a:lnTo>
                  <a:cubicBezTo>
                    <a:pt x="250978" y="51025"/>
                    <a:pt x="246651" y="49583"/>
                    <a:pt x="243285" y="51025"/>
                  </a:cubicBezTo>
                  <a:cubicBezTo>
                    <a:pt x="239920" y="52948"/>
                    <a:pt x="238477" y="57276"/>
                    <a:pt x="239920" y="60641"/>
                  </a:cubicBezTo>
                  <a:lnTo>
                    <a:pt x="241843" y="64488"/>
                  </a:lnTo>
                  <a:cubicBezTo>
                    <a:pt x="239920" y="64007"/>
                    <a:pt x="237516" y="63526"/>
                    <a:pt x="235593" y="62084"/>
                  </a:cubicBezTo>
                  <a:close/>
                  <a:moveTo>
                    <a:pt x="265402" y="115933"/>
                  </a:moveTo>
                  <a:cubicBezTo>
                    <a:pt x="262998" y="111125"/>
                    <a:pt x="264921" y="105356"/>
                    <a:pt x="269729" y="102952"/>
                  </a:cubicBezTo>
                  <a:cubicBezTo>
                    <a:pt x="274057" y="100548"/>
                    <a:pt x="279345" y="102471"/>
                    <a:pt x="282230" y="106317"/>
                  </a:cubicBezTo>
                  <a:cubicBezTo>
                    <a:pt x="284634" y="111125"/>
                    <a:pt x="282711" y="116895"/>
                    <a:pt x="277903" y="119299"/>
                  </a:cubicBezTo>
                  <a:cubicBezTo>
                    <a:pt x="273576" y="121703"/>
                    <a:pt x="268287" y="120261"/>
                    <a:pt x="265402" y="115933"/>
                  </a:cubicBezTo>
                  <a:close/>
                  <a:moveTo>
                    <a:pt x="170204" y="39005"/>
                  </a:moveTo>
                  <a:lnTo>
                    <a:pt x="150972" y="39967"/>
                  </a:lnTo>
                  <a:cubicBezTo>
                    <a:pt x="149048" y="39967"/>
                    <a:pt x="147125" y="39486"/>
                    <a:pt x="145683" y="39005"/>
                  </a:cubicBezTo>
                  <a:lnTo>
                    <a:pt x="150010" y="36601"/>
                  </a:lnTo>
                  <a:cubicBezTo>
                    <a:pt x="153376" y="34678"/>
                    <a:pt x="154818" y="30351"/>
                    <a:pt x="152414" y="26504"/>
                  </a:cubicBezTo>
                  <a:cubicBezTo>
                    <a:pt x="150491" y="23139"/>
                    <a:pt x="146164" y="21696"/>
                    <a:pt x="142317" y="24100"/>
                  </a:cubicBezTo>
                  <a:lnTo>
                    <a:pt x="138471" y="26024"/>
                  </a:lnTo>
                  <a:cubicBezTo>
                    <a:pt x="138952" y="23620"/>
                    <a:pt x="139913" y="21216"/>
                    <a:pt x="141356" y="19773"/>
                  </a:cubicBezTo>
                  <a:cubicBezTo>
                    <a:pt x="143279" y="17369"/>
                    <a:pt x="146644" y="15927"/>
                    <a:pt x="149529" y="15927"/>
                  </a:cubicBezTo>
                  <a:lnTo>
                    <a:pt x="168761" y="14965"/>
                  </a:lnTo>
                  <a:lnTo>
                    <a:pt x="169242" y="14965"/>
                  </a:lnTo>
                  <a:cubicBezTo>
                    <a:pt x="172127" y="14965"/>
                    <a:pt x="175012" y="15927"/>
                    <a:pt x="177416" y="17850"/>
                  </a:cubicBezTo>
                  <a:cubicBezTo>
                    <a:pt x="178858" y="19292"/>
                    <a:pt x="180300" y="21216"/>
                    <a:pt x="180781" y="23139"/>
                  </a:cubicBezTo>
                  <a:lnTo>
                    <a:pt x="174531" y="21696"/>
                  </a:lnTo>
                  <a:cubicBezTo>
                    <a:pt x="170684" y="20735"/>
                    <a:pt x="166838" y="23620"/>
                    <a:pt x="165876" y="27466"/>
                  </a:cubicBezTo>
                  <a:cubicBezTo>
                    <a:pt x="164915" y="31312"/>
                    <a:pt x="167800" y="35159"/>
                    <a:pt x="171646" y="36120"/>
                  </a:cubicBezTo>
                  <a:lnTo>
                    <a:pt x="175492" y="37082"/>
                  </a:lnTo>
                  <a:cubicBezTo>
                    <a:pt x="174050" y="38044"/>
                    <a:pt x="172127" y="38524"/>
                    <a:pt x="170204" y="39005"/>
                  </a:cubicBezTo>
                  <a:close/>
                  <a:moveTo>
                    <a:pt x="108661" y="75546"/>
                  </a:moveTo>
                  <a:cubicBezTo>
                    <a:pt x="108180" y="78912"/>
                    <a:pt x="106257" y="81797"/>
                    <a:pt x="103372" y="83720"/>
                  </a:cubicBezTo>
                  <a:lnTo>
                    <a:pt x="103372" y="76027"/>
                  </a:lnTo>
                  <a:cubicBezTo>
                    <a:pt x="103372" y="72181"/>
                    <a:pt x="100007" y="68815"/>
                    <a:pt x="96160" y="68815"/>
                  </a:cubicBezTo>
                  <a:cubicBezTo>
                    <a:pt x="92314" y="68815"/>
                    <a:pt x="88948" y="72181"/>
                    <a:pt x="88948" y="76027"/>
                  </a:cubicBezTo>
                  <a:lnTo>
                    <a:pt x="88948" y="82758"/>
                  </a:lnTo>
                  <a:cubicBezTo>
                    <a:pt x="86063" y="80354"/>
                    <a:pt x="84140" y="76027"/>
                    <a:pt x="84621" y="72181"/>
                  </a:cubicBezTo>
                  <a:lnTo>
                    <a:pt x="87506" y="52948"/>
                  </a:lnTo>
                  <a:cubicBezTo>
                    <a:pt x="87987" y="49583"/>
                    <a:pt x="89429" y="47179"/>
                    <a:pt x="92314" y="45256"/>
                  </a:cubicBezTo>
                  <a:cubicBezTo>
                    <a:pt x="94718" y="43332"/>
                    <a:pt x="98083" y="42371"/>
                    <a:pt x="101449" y="42852"/>
                  </a:cubicBezTo>
                  <a:cubicBezTo>
                    <a:pt x="103372" y="43332"/>
                    <a:pt x="105295" y="43813"/>
                    <a:pt x="106738" y="44775"/>
                  </a:cubicBezTo>
                  <a:lnTo>
                    <a:pt x="100968" y="48140"/>
                  </a:lnTo>
                  <a:cubicBezTo>
                    <a:pt x="97603" y="50064"/>
                    <a:pt x="96160" y="54391"/>
                    <a:pt x="98564" y="58237"/>
                  </a:cubicBezTo>
                  <a:cubicBezTo>
                    <a:pt x="100007" y="60641"/>
                    <a:pt x="102411" y="61603"/>
                    <a:pt x="104815" y="61603"/>
                  </a:cubicBezTo>
                  <a:cubicBezTo>
                    <a:pt x="106257" y="61603"/>
                    <a:pt x="107219" y="61122"/>
                    <a:pt x="108661" y="60641"/>
                  </a:cubicBezTo>
                  <a:lnTo>
                    <a:pt x="111546" y="58718"/>
                  </a:lnTo>
                  <a:lnTo>
                    <a:pt x="108661" y="75546"/>
                  </a:lnTo>
                  <a:close/>
                  <a:moveTo>
                    <a:pt x="105776" y="136608"/>
                  </a:moveTo>
                  <a:cubicBezTo>
                    <a:pt x="105776" y="141897"/>
                    <a:pt x="101449" y="146224"/>
                    <a:pt x="96160" y="146224"/>
                  </a:cubicBezTo>
                  <a:cubicBezTo>
                    <a:pt x="90871" y="146224"/>
                    <a:pt x="86544" y="141897"/>
                    <a:pt x="86544" y="136608"/>
                  </a:cubicBezTo>
                  <a:cubicBezTo>
                    <a:pt x="86544" y="131319"/>
                    <a:pt x="90871" y="126992"/>
                    <a:pt x="96160" y="126992"/>
                  </a:cubicBezTo>
                  <a:cubicBezTo>
                    <a:pt x="101449" y="126992"/>
                    <a:pt x="105776" y="131319"/>
                    <a:pt x="105776" y="136608"/>
                  </a:cubicBezTo>
                  <a:close/>
                  <a:moveTo>
                    <a:pt x="402911" y="152955"/>
                  </a:moveTo>
                  <a:cubicBezTo>
                    <a:pt x="385122" y="117857"/>
                    <a:pt x="348581" y="98144"/>
                    <a:pt x="311559" y="100548"/>
                  </a:cubicBezTo>
                  <a:lnTo>
                    <a:pt x="304347" y="85643"/>
                  </a:lnTo>
                  <a:cubicBezTo>
                    <a:pt x="303866" y="84201"/>
                    <a:pt x="302905" y="83239"/>
                    <a:pt x="301943" y="82277"/>
                  </a:cubicBezTo>
                  <a:cubicBezTo>
                    <a:pt x="296654" y="74585"/>
                    <a:pt x="286077" y="71700"/>
                    <a:pt x="277422" y="76027"/>
                  </a:cubicBezTo>
                  <a:lnTo>
                    <a:pt x="266845" y="81316"/>
                  </a:lnTo>
                  <a:lnTo>
                    <a:pt x="261075" y="70257"/>
                  </a:lnTo>
                  <a:cubicBezTo>
                    <a:pt x="262037" y="69296"/>
                    <a:pt x="262998" y="68334"/>
                    <a:pt x="263960" y="67373"/>
                  </a:cubicBezTo>
                  <a:cubicBezTo>
                    <a:pt x="272614" y="55353"/>
                    <a:pt x="269729" y="39005"/>
                    <a:pt x="258190" y="30351"/>
                  </a:cubicBezTo>
                  <a:lnTo>
                    <a:pt x="242805" y="18812"/>
                  </a:lnTo>
                  <a:cubicBezTo>
                    <a:pt x="237035" y="14484"/>
                    <a:pt x="230304" y="13042"/>
                    <a:pt x="223092" y="14004"/>
                  </a:cubicBezTo>
                  <a:cubicBezTo>
                    <a:pt x="215880" y="14965"/>
                    <a:pt x="210110" y="18812"/>
                    <a:pt x="205783" y="24581"/>
                  </a:cubicBezTo>
                  <a:cubicBezTo>
                    <a:pt x="205302" y="25543"/>
                    <a:pt x="204821" y="26504"/>
                    <a:pt x="204340" y="26985"/>
                  </a:cubicBezTo>
                  <a:lnTo>
                    <a:pt x="195686" y="26024"/>
                  </a:lnTo>
                  <a:cubicBezTo>
                    <a:pt x="195686" y="25543"/>
                    <a:pt x="195686" y="25543"/>
                    <a:pt x="195686" y="25062"/>
                  </a:cubicBezTo>
                  <a:cubicBezTo>
                    <a:pt x="195205" y="17850"/>
                    <a:pt x="192320" y="11600"/>
                    <a:pt x="187032" y="6792"/>
                  </a:cubicBezTo>
                  <a:cubicBezTo>
                    <a:pt x="181743" y="1984"/>
                    <a:pt x="175012" y="-420"/>
                    <a:pt x="167800" y="60"/>
                  </a:cubicBezTo>
                  <a:lnTo>
                    <a:pt x="148568" y="1022"/>
                  </a:lnTo>
                  <a:cubicBezTo>
                    <a:pt x="134144" y="1984"/>
                    <a:pt x="122604" y="14484"/>
                    <a:pt x="123566" y="28908"/>
                  </a:cubicBezTo>
                  <a:cubicBezTo>
                    <a:pt x="123566" y="30832"/>
                    <a:pt x="124047" y="32274"/>
                    <a:pt x="124527" y="34197"/>
                  </a:cubicBezTo>
                  <a:lnTo>
                    <a:pt x="119239" y="37563"/>
                  </a:lnTo>
                  <a:cubicBezTo>
                    <a:pt x="114911" y="32755"/>
                    <a:pt x="109623" y="29870"/>
                    <a:pt x="103372" y="28908"/>
                  </a:cubicBezTo>
                  <a:cubicBezTo>
                    <a:pt x="96160" y="27947"/>
                    <a:pt x="89429" y="29870"/>
                    <a:pt x="83659" y="33716"/>
                  </a:cubicBezTo>
                  <a:cubicBezTo>
                    <a:pt x="77890" y="38044"/>
                    <a:pt x="74524" y="44294"/>
                    <a:pt x="73563" y="51025"/>
                  </a:cubicBezTo>
                  <a:lnTo>
                    <a:pt x="70678" y="70257"/>
                  </a:lnTo>
                  <a:cubicBezTo>
                    <a:pt x="69716" y="77469"/>
                    <a:pt x="71639" y="84201"/>
                    <a:pt x="75486" y="89970"/>
                  </a:cubicBezTo>
                  <a:cubicBezTo>
                    <a:pt x="78851" y="94297"/>
                    <a:pt x="83659" y="97663"/>
                    <a:pt x="88948" y="99105"/>
                  </a:cubicBezTo>
                  <a:lnTo>
                    <a:pt x="88948" y="107760"/>
                  </a:lnTo>
                  <a:lnTo>
                    <a:pt x="76928" y="107760"/>
                  </a:lnTo>
                  <a:cubicBezTo>
                    <a:pt x="66351" y="107760"/>
                    <a:pt x="57696" y="116414"/>
                    <a:pt x="57696" y="126992"/>
                  </a:cubicBezTo>
                  <a:lnTo>
                    <a:pt x="57696" y="144782"/>
                  </a:lnTo>
                  <a:cubicBezTo>
                    <a:pt x="23559" y="159686"/>
                    <a:pt x="0" y="193342"/>
                    <a:pt x="0" y="232768"/>
                  </a:cubicBezTo>
                  <a:cubicBezTo>
                    <a:pt x="0" y="285656"/>
                    <a:pt x="43272" y="328928"/>
                    <a:pt x="96160" y="328928"/>
                  </a:cubicBezTo>
                  <a:cubicBezTo>
                    <a:pt x="117315" y="328928"/>
                    <a:pt x="137028" y="321716"/>
                    <a:pt x="152895" y="310177"/>
                  </a:cubicBezTo>
                  <a:lnTo>
                    <a:pt x="132220" y="289503"/>
                  </a:lnTo>
                  <a:cubicBezTo>
                    <a:pt x="122123" y="296234"/>
                    <a:pt x="109623" y="300080"/>
                    <a:pt x="96160" y="300080"/>
                  </a:cubicBezTo>
                  <a:cubicBezTo>
                    <a:pt x="59139" y="300080"/>
                    <a:pt x="28848" y="269790"/>
                    <a:pt x="28848" y="232768"/>
                  </a:cubicBezTo>
                  <a:cubicBezTo>
                    <a:pt x="28848" y="195746"/>
                    <a:pt x="59139" y="165456"/>
                    <a:pt x="96160" y="165456"/>
                  </a:cubicBezTo>
                  <a:cubicBezTo>
                    <a:pt x="133182" y="165456"/>
                    <a:pt x="163472" y="195746"/>
                    <a:pt x="163472" y="232768"/>
                  </a:cubicBezTo>
                  <a:cubicBezTo>
                    <a:pt x="163472" y="246231"/>
                    <a:pt x="159626" y="258731"/>
                    <a:pt x="152895" y="268828"/>
                  </a:cubicBezTo>
                  <a:lnTo>
                    <a:pt x="166838" y="282771"/>
                  </a:lnTo>
                  <a:cubicBezTo>
                    <a:pt x="176935" y="268828"/>
                    <a:pt x="182704" y="251519"/>
                    <a:pt x="182704" y="232768"/>
                  </a:cubicBezTo>
                  <a:cubicBezTo>
                    <a:pt x="182704" y="199112"/>
                    <a:pt x="162992" y="169783"/>
                    <a:pt x="134624" y="155359"/>
                  </a:cubicBezTo>
                  <a:lnTo>
                    <a:pt x="134624" y="126992"/>
                  </a:lnTo>
                  <a:cubicBezTo>
                    <a:pt x="134624" y="116414"/>
                    <a:pt x="125970" y="107760"/>
                    <a:pt x="115392" y="107760"/>
                  </a:cubicBezTo>
                  <a:lnTo>
                    <a:pt x="103372" y="107760"/>
                  </a:lnTo>
                  <a:lnTo>
                    <a:pt x="103372" y="99586"/>
                  </a:lnTo>
                  <a:cubicBezTo>
                    <a:pt x="113469" y="97182"/>
                    <a:pt x="121643" y="88528"/>
                    <a:pt x="123085" y="77950"/>
                  </a:cubicBezTo>
                  <a:lnTo>
                    <a:pt x="125970" y="58718"/>
                  </a:lnTo>
                  <a:cubicBezTo>
                    <a:pt x="126451" y="55833"/>
                    <a:pt x="125970" y="53429"/>
                    <a:pt x="125970" y="50544"/>
                  </a:cubicBezTo>
                  <a:lnTo>
                    <a:pt x="132701" y="46698"/>
                  </a:lnTo>
                  <a:cubicBezTo>
                    <a:pt x="132701" y="46698"/>
                    <a:pt x="133182" y="47179"/>
                    <a:pt x="133182" y="47660"/>
                  </a:cubicBezTo>
                  <a:cubicBezTo>
                    <a:pt x="137990" y="51987"/>
                    <a:pt x="144240" y="54391"/>
                    <a:pt x="150972" y="54391"/>
                  </a:cubicBezTo>
                  <a:cubicBezTo>
                    <a:pt x="151452" y="54391"/>
                    <a:pt x="151933" y="54391"/>
                    <a:pt x="152414" y="54391"/>
                  </a:cubicBezTo>
                  <a:lnTo>
                    <a:pt x="171646" y="53429"/>
                  </a:lnTo>
                  <a:cubicBezTo>
                    <a:pt x="178858" y="52948"/>
                    <a:pt x="185108" y="50064"/>
                    <a:pt x="189916" y="44775"/>
                  </a:cubicBezTo>
                  <a:cubicBezTo>
                    <a:pt x="191359" y="43332"/>
                    <a:pt x="192320" y="41890"/>
                    <a:pt x="193282" y="40448"/>
                  </a:cubicBezTo>
                  <a:lnTo>
                    <a:pt x="201936" y="42371"/>
                  </a:lnTo>
                  <a:cubicBezTo>
                    <a:pt x="201936" y="43332"/>
                    <a:pt x="201936" y="44294"/>
                    <a:pt x="201936" y="45256"/>
                  </a:cubicBezTo>
                  <a:cubicBezTo>
                    <a:pt x="202898" y="52468"/>
                    <a:pt x="206744" y="58237"/>
                    <a:pt x="212514" y="62565"/>
                  </a:cubicBezTo>
                  <a:lnTo>
                    <a:pt x="227900" y="74104"/>
                  </a:lnTo>
                  <a:cubicBezTo>
                    <a:pt x="232708" y="77469"/>
                    <a:pt x="237997" y="79393"/>
                    <a:pt x="243285" y="79393"/>
                  </a:cubicBezTo>
                  <a:cubicBezTo>
                    <a:pt x="245209" y="79393"/>
                    <a:pt x="247613" y="78912"/>
                    <a:pt x="249536" y="78431"/>
                  </a:cubicBezTo>
                  <a:lnTo>
                    <a:pt x="254825" y="89009"/>
                  </a:lnTo>
                  <a:lnTo>
                    <a:pt x="244247" y="94297"/>
                  </a:lnTo>
                  <a:cubicBezTo>
                    <a:pt x="234631" y="99105"/>
                    <a:pt x="230785" y="110645"/>
                    <a:pt x="235593" y="120261"/>
                  </a:cubicBezTo>
                  <a:lnTo>
                    <a:pt x="245209" y="139493"/>
                  </a:lnTo>
                  <a:lnTo>
                    <a:pt x="248093" y="145743"/>
                  </a:lnTo>
                  <a:cubicBezTo>
                    <a:pt x="237516" y="160167"/>
                    <a:pt x="231265" y="177957"/>
                    <a:pt x="230785" y="195746"/>
                  </a:cubicBezTo>
                  <a:cubicBezTo>
                    <a:pt x="230304" y="209690"/>
                    <a:pt x="233189" y="223633"/>
                    <a:pt x="239920" y="237095"/>
                  </a:cubicBezTo>
                  <a:cubicBezTo>
                    <a:pt x="248093" y="253923"/>
                    <a:pt x="261556" y="266424"/>
                    <a:pt x="276461" y="274598"/>
                  </a:cubicBezTo>
                  <a:lnTo>
                    <a:pt x="276941" y="273636"/>
                  </a:lnTo>
                  <a:lnTo>
                    <a:pt x="283192" y="254885"/>
                  </a:lnTo>
                  <a:cubicBezTo>
                    <a:pt x="272614" y="248635"/>
                    <a:pt x="263479" y="239499"/>
                    <a:pt x="257229" y="227479"/>
                  </a:cubicBezTo>
                  <a:cubicBezTo>
                    <a:pt x="251940" y="217382"/>
                    <a:pt x="249536" y="206324"/>
                    <a:pt x="250017" y="195746"/>
                  </a:cubicBezTo>
                  <a:cubicBezTo>
                    <a:pt x="250978" y="171706"/>
                    <a:pt x="264441" y="149109"/>
                    <a:pt x="287038" y="138050"/>
                  </a:cubicBezTo>
                  <a:cubicBezTo>
                    <a:pt x="320214" y="121222"/>
                    <a:pt x="360601" y="135165"/>
                    <a:pt x="377429" y="168341"/>
                  </a:cubicBezTo>
                  <a:cubicBezTo>
                    <a:pt x="382237" y="178438"/>
                    <a:pt x="384641" y="189015"/>
                    <a:pt x="384641" y="199593"/>
                  </a:cubicBezTo>
                  <a:cubicBezTo>
                    <a:pt x="383679" y="223152"/>
                    <a:pt x="370217" y="245750"/>
                    <a:pt x="348100" y="257289"/>
                  </a:cubicBezTo>
                  <a:cubicBezTo>
                    <a:pt x="336080" y="263539"/>
                    <a:pt x="323098" y="265463"/>
                    <a:pt x="311078" y="264020"/>
                  </a:cubicBezTo>
                  <a:lnTo>
                    <a:pt x="310597" y="264982"/>
                  </a:lnTo>
                  <a:lnTo>
                    <a:pt x="301462" y="292868"/>
                  </a:lnTo>
                  <a:cubicBezTo>
                    <a:pt x="321175" y="296234"/>
                    <a:pt x="341850" y="293830"/>
                    <a:pt x="360601" y="284214"/>
                  </a:cubicBezTo>
                  <a:cubicBezTo>
                    <a:pt x="393776" y="267867"/>
                    <a:pt x="413008" y="234691"/>
                    <a:pt x="413489" y="200554"/>
                  </a:cubicBezTo>
                  <a:cubicBezTo>
                    <a:pt x="413970" y="184207"/>
                    <a:pt x="410604" y="168341"/>
                    <a:pt x="402911" y="152955"/>
                  </a:cubicBezTo>
                  <a:close/>
                </a:path>
              </a:pathLst>
            </a:custGeom>
            <a:solidFill>
              <a:schemeClr val="bg1"/>
            </a:solidFill>
            <a:ln w="4763" cap="flat">
              <a:noFill/>
              <a:prstDash val="solid"/>
              <a:miter/>
            </a:ln>
          </p:spPr>
          <p:txBody>
            <a:bodyPr/>
            <a:lstStyle/>
            <a:p>
              <a:endParaRPr lang="de-DE" dirty="0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170FB1E-4409-CEB6-D602-6BEBBA03F714}"/>
              </a:ext>
            </a:extLst>
          </p:cNvPr>
          <p:cNvGrpSpPr/>
          <p:nvPr/>
        </p:nvGrpSpPr>
        <p:grpSpPr>
          <a:xfrm>
            <a:off x="311162" y="2435581"/>
            <a:ext cx="1487606" cy="771951"/>
            <a:chOff x="311162" y="2435581"/>
            <a:chExt cx="1487606" cy="771951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38D39F69-2C4B-F363-D794-BA3E0427C312}"/>
                </a:ext>
              </a:extLst>
            </p:cNvPr>
            <p:cNvSpPr/>
            <p:nvPr/>
          </p:nvSpPr>
          <p:spPr>
            <a:xfrm>
              <a:off x="311162" y="2435581"/>
              <a:ext cx="1487606" cy="7719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1050" dirty="0"/>
                <a:t>Non-German Citizens</a:t>
              </a:r>
            </a:p>
          </p:txBody>
        </p:sp>
        <p:pic>
          <p:nvPicPr>
            <p:cNvPr id="19" name="Grafik 18" descr="Erdkugel: Afrika und Europa mit einfarbiger Füllung">
              <a:extLst>
                <a:ext uri="{FF2B5EF4-FFF2-40B4-BE49-F238E27FC236}">
                  <a16:creationId xmlns:a16="http://schemas.microsoft.com/office/drawing/2014/main" id="{4EE50CB5-F6E9-9DD8-8EEF-69908704A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90185" y="2693286"/>
              <a:ext cx="508583" cy="508583"/>
            </a:xfrm>
            <a:prstGeom prst="rect">
              <a:avLst/>
            </a:prstGeom>
          </p:spPr>
        </p:pic>
      </p:grp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1F162398-B1FA-A20B-42D8-4C7E9B21245E}"/>
              </a:ext>
            </a:extLst>
          </p:cNvPr>
          <p:cNvSpPr/>
          <p:nvPr/>
        </p:nvSpPr>
        <p:spPr>
          <a:xfrm>
            <a:off x="2017304" y="2503476"/>
            <a:ext cx="3998794" cy="636159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200" dirty="0">
                <a:solidFill>
                  <a:schemeClr val="bg1"/>
                </a:solidFill>
              </a:rPr>
              <a:t>2.6 </a:t>
            </a:r>
            <a:r>
              <a:rPr lang="de-DE" sz="1200" dirty="0" err="1">
                <a:solidFill>
                  <a:schemeClr val="bg1"/>
                </a:solidFill>
              </a:rPr>
              <a:t>times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more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likely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commit</a:t>
            </a:r>
            <a:r>
              <a:rPr lang="de-DE" sz="1200" dirty="0">
                <a:solidFill>
                  <a:schemeClr val="bg1"/>
                </a:solidFill>
              </a:rPr>
              <a:t> a </a:t>
            </a:r>
            <a:r>
              <a:rPr lang="de-DE" sz="1200" dirty="0" err="1">
                <a:solidFill>
                  <a:schemeClr val="bg1"/>
                </a:solidFill>
              </a:rPr>
              <a:t>crime</a:t>
            </a:r>
            <a:r>
              <a:rPr lang="de-DE" sz="12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2F726C8-D490-E604-4AB1-AB03FA2E0CCA}"/>
              </a:ext>
            </a:extLst>
          </p:cNvPr>
          <p:cNvSpPr/>
          <p:nvPr/>
        </p:nvSpPr>
        <p:spPr>
          <a:xfrm>
            <a:off x="3272898" y="3835644"/>
            <a:ext cx="1487606" cy="77195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050" dirty="0"/>
              <a:t>Other </a:t>
            </a:r>
            <a:r>
              <a:rPr lang="de-DE" sz="1050" dirty="0" err="1"/>
              <a:t>Factors</a:t>
            </a:r>
            <a:r>
              <a:rPr lang="de-DE" sz="1050" dirty="0"/>
              <a:t>:</a:t>
            </a:r>
            <a:br>
              <a:rPr lang="de-DE" sz="1050" dirty="0"/>
            </a:br>
            <a:r>
              <a:rPr lang="de-DE" sz="1050" dirty="0"/>
              <a:t>Age, Gender, </a:t>
            </a:r>
            <a:r>
              <a:rPr lang="de-DE" sz="1050" dirty="0" err="1"/>
              <a:t>Socio-economic</a:t>
            </a:r>
            <a:r>
              <a:rPr lang="de-DE" sz="1050" dirty="0"/>
              <a:t> </a:t>
            </a:r>
            <a:r>
              <a:rPr lang="de-DE" sz="1050" dirty="0" err="1"/>
              <a:t>status</a:t>
            </a:r>
            <a:endParaRPr lang="de-DE" sz="1050" dirty="0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A2472A7B-DA5D-EF76-79BE-548482EA2C36}"/>
              </a:ext>
            </a:extLst>
          </p:cNvPr>
          <p:cNvSpPr/>
          <p:nvPr/>
        </p:nvSpPr>
        <p:spPr>
          <a:xfrm rot="1575563">
            <a:off x="1743284" y="3526637"/>
            <a:ext cx="1314246" cy="679448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200" dirty="0"/>
              <a:t>More </a:t>
            </a:r>
            <a:r>
              <a:rPr lang="de-DE" sz="1200" dirty="0" err="1"/>
              <a:t>often</a:t>
            </a:r>
            <a:endParaRPr lang="de-DE" sz="1200" dirty="0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194B8F5F-719D-DC58-0962-3A5E9A346E3E}"/>
              </a:ext>
            </a:extLst>
          </p:cNvPr>
          <p:cNvSpPr/>
          <p:nvPr/>
        </p:nvSpPr>
        <p:spPr>
          <a:xfrm rot="20481469">
            <a:off x="4967497" y="3463191"/>
            <a:ext cx="1314246" cy="679448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200" dirty="0"/>
              <a:t>Real </a:t>
            </a:r>
            <a:r>
              <a:rPr lang="de-DE" sz="1200" dirty="0" err="1"/>
              <a:t>driver</a:t>
            </a:r>
            <a:endParaRPr lang="de-DE" sz="1200" dirty="0"/>
          </a:p>
        </p:txBody>
      </p:sp>
      <p:sp>
        <p:nvSpPr>
          <p:cNvPr id="28" name="Multiplikationszeichen 27">
            <a:extLst>
              <a:ext uri="{FF2B5EF4-FFF2-40B4-BE49-F238E27FC236}">
                <a16:creationId xmlns:a16="http://schemas.microsoft.com/office/drawing/2014/main" id="{97F83323-08C8-C534-DFF5-C422FA959661}"/>
              </a:ext>
            </a:extLst>
          </p:cNvPr>
          <p:cNvSpPr/>
          <p:nvPr/>
        </p:nvSpPr>
        <p:spPr>
          <a:xfrm>
            <a:off x="2850683" y="2410459"/>
            <a:ext cx="1986987" cy="810258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sp>
        <p:nvSpPr>
          <p:cNvPr id="29" name="Pfeil: nach oben gekrümmt 28">
            <a:extLst>
              <a:ext uri="{FF2B5EF4-FFF2-40B4-BE49-F238E27FC236}">
                <a16:creationId xmlns:a16="http://schemas.microsoft.com/office/drawing/2014/main" id="{E68F0F81-0766-801A-354A-AEFAE2E9CA6B}"/>
              </a:ext>
            </a:extLst>
          </p:cNvPr>
          <p:cNvSpPr/>
          <p:nvPr/>
        </p:nvSpPr>
        <p:spPr>
          <a:xfrm rot="1665942" flipH="1">
            <a:off x="949433" y="3748830"/>
            <a:ext cx="2181012" cy="810083"/>
          </a:xfrm>
          <a:prstGeom prst="curvedUp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93AE106-9292-6F9C-CD05-6AD0D97F6D2B}"/>
              </a:ext>
            </a:extLst>
          </p:cNvPr>
          <p:cNvSpPr txBox="1"/>
          <p:nvPr/>
        </p:nvSpPr>
        <p:spPr>
          <a:xfrm>
            <a:off x="918949" y="4193978"/>
            <a:ext cx="821612" cy="257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600" dirty="0">
                <a:latin typeface="+mn-lt"/>
              </a:rPr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155325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10AF9D7-1886-6046-0AE3-DAA216D3C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Processing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special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personal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prohibited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Art. 9(1) GDPR, </a:t>
            </a:r>
            <a:r>
              <a:rPr lang="de-DE" dirty="0" err="1"/>
              <a:t>including</a:t>
            </a:r>
            <a:r>
              <a:rPr lang="de-DE" dirty="0"/>
              <a:t>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Disability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 err="1"/>
              <a:t>Ethnic</a:t>
            </a:r>
            <a:r>
              <a:rPr lang="de-DE" dirty="0"/>
              <a:t> </a:t>
            </a:r>
            <a:r>
              <a:rPr lang="de-DE" dirty="0" err="1"/>
              <a:t>origin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Religion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Sexual 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De-</a:t>
            </a:r>
            <a:r>
              <a:rPr lang="de-DE" dirty="0" err="1"/>
              <a:t>biasing</a:t>
            </a:r>
            <a:r>
              <a:rPr lang="de-DE" dirty="0"/>
              <a:t> not possible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protected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lvl="1" indent="0">
              <a:buNone/>
            </a:pP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DCC1C06-836F-189D-BA61-EA0CC9D4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de-DE" dirty="0"/>
              <a:t>Potential Conflict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68DB0D-1CBD-026F-2CC9-8EEDF80A44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F54D0D-75E6-964B-C631-F7BBF8822F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676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8FECC0E-060C-1009-66B0-E128FC4F1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Art. 9(2)(g) GDPR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processing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/>
              <a:t>Public </a:t>
            </a:r>
            <a:r>
              <a:rPr lang="de-DE" dirty="0" err="1"/>
              <a:t>interest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de-DE" dirty="0" err="1"/>
              <a:t>Permited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Union </a:t>
            </a:r>
            <a:r>
              <a:rPr lang="de-DE" dirty="0" err="1"/>
              <a:t>law</a:t>
            </a:r>
            <a:endParaRPr lang="de-DE" dirty="0"/>
          </a:p>
          <a:p>
            <a:pPr marL="461963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Art. 10(5) AIA </a:t>
            </a:r>
            <a:r>
              <a:rPr lang="de-DE" dirty="0" err="1"/>
              <a:t>establishes</a:t>
            </a:r>
            <a:r>
              <a:rPr lang="de-DE" dirty="0"/>
              <a:t> an </a:t>
            </a:r>
            <a:r>
              <a:rPr lang="de-DE" dirty="0" err="1"/>
              <a:t>exception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Art. 9(1) GDPR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7BAEBD7-D866-4A4E-3F52-C9DA4EAE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de-DE" dirty="0"/>
              <a:t>Conflict Resolution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9BFBAE-D58D-1091-91E8-B8545DEABD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FFFF5E-A026-7960-0019-2917FE09D3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Marlon Müller, B. Sc. (TUM) | AI Regulation &amp;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7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7925FB-4D75-46C6-E439-88AE1F3C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24" y="2383631"/>
            <a:ext cx="2357498" cy="376238"/>
          </a:xfrm>
        </p:spPr>
        <p:txBody>
          <a:bodyPr/>
          <a:lstStyle/>
          <a:p>
            <a:r>
              <a:rPr lang="de-DE" dirty="0"/>
              <a:t>Any 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6213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1E03A00F-5A34-475F-BA84-E2EBED434790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008B5212-AD15-4DA8-AB6C-182350FFA4EA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CFAC8027-78A3-4001-93FE-AE371D2D92B1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94C99F27-547F-408F-8FEB-51CB360826DB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62E0DEB-27C1-4887-9BB6-4AC5FC555B75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4175650-7EAE-421A-870A-005CB3789E30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2111_Praesentationsvorlage_16-9</Template>
  <TotalTime>0</TotalTime>
  <Words>199</Words>
  <Application>Microsoft Office PowerPoint</Application>
  <PresentationFormat>Bildschirmpräsentation (16:9)</PresentationFormat>
  <Paragraphs>36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5</vt:i4>
      </vt:variant>
    </vt:vector>
  </HeadingPairs>
  <TitlesOfParts>
    <vt:vector size="16" baseType="lpstr">
      <vt:lpstr>Arial</vt:lpstr>
      <vt:lpstr>Calibri</vt:lpstr>
      <vt:lpstr>Courier New</vt:lpstr>
      <vt:lpstr>Symbol</vt:lpstr>
      <vt:lpstr>Wingdings</vt:lpstr>
      <vt:lpstr>Titel 1</vt:lpstr>
      <vt:lpstr>Titel 2</vt:lpstr>
      <vt:lpstr>Titel 3</vt:lpstr>
      <vt:lpstr>Inhalt</vt:lpstr>
      <vt:lpstr>Kapiteltrenner blau</vt:lpstr>
      <vt:lpstr>Kapiteltrenner schwarz</vt:lpstr>
      <vt:lpstr>Processing Personal Data under the EU AI Act</vt:lpstr>
      <vt:lpstr>Bias-free AI and Proxies</vt:lpstr>
      <vt:lpstr>Potential Conflict</vt:lpstr>
      <vt:lpstr>Conflict Resolution</vt:lpstr>
      <vt:lpstr>Any 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Marlon Müller</dc:creator>
  <cp:lastModifiedBy>Marlon Müller</cp:lastModifiedBy>
  <cp:revision>2</cp:revision>
  <cp:lastPrinted>2015-07-30T14:04:45Z</cp:lastPrinted>
  <dcterms:created xsi:type="dcterms:W3CDTF">2026-05-08T16:12:02Z</dcterms:created>
  <dcterms:modified xsi:type="dcterms:W3CDTF">2026-06-03T16:54:50Z</dcterms:modified>
</cp:coreProperties>
</file>